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4" r:id="rId10"/>
    <p:sldId id="266" r:id="rId11"/>
    <p:sldId id="267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30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45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jith K R" userId="4e10686114942195" providerId="LiveId" clId="{D67E4975-066A-4E66-BD43-15154D530F8D}"/>
    <pc:docChg chg="custSel modSld">
      <pc:chgData name="Ajith K R" userId="4e10686114942195" providerId="LiveId" clId="{D67E4975-066A-4E66-BD43-15154D530F8D}" dt="2025-09-25T10:01:21.962" v="27" actId="403"/>
      <pc:docMkLst>
        <pc:docMk/>
      </pc:docMkLst>
      <pc:sldChg chg="addSp modSp mod">
        <pc:chgData name="Ajith K R" userId="4e10686114942195" providerId="LiveId" clId="{D67E4975-066A-4E66-BD43-15154D530F8D}" dt="2025-09-25T10:01:21.962" v="27" actId="403"/>
        <pc:sldMkLst>
          <pc:docMk/>
          <pc:sldMk cId="0" sldId="256"/>
        </pc:sldMkLst>
        <pc:spChg chg="mod">
          <ac:chgData name="Ajith K R" userId="4e10686114942195" providerId="LiveId" clId="{D67E4975-066A-4E66-BD43-15154D530F8D}" dt="2025-09-25T10:01:21.962" v="27" actId="403"/>
          <ac:spMkLst>
            <pc:docMk/>
            <pc:sldMk cId="0" sldId="256"/>
            <ac:spMk id="2" creationId="{00000000-0000-0000-0000-000000000000}"/>
          </ac:spMkLst>
        </pc:spChg>
        <pc:spChg chg="ord">
          <ac:chgData name="Ajith K R" userId="4e10686114942195" providerId="LiveId" clId="{D67E4975-066A-4E66-BD43-15154D530F8D}" dt="2025-09-25T09:47:22.905" v="1" actId="167"/>
          <ac:spMkLst>
            <pc:docMk/>
            <pc:sldMk cId="0" sldId="256"/>
            <ac:spMk id="4" creationId="{00000000-0000-0000-0000-000000000000}"/>
          </ac:spMkLst>
        </pc:spChg>
        <pc:spChg chg="ord">
          <ac:chgData name="Ajith K R" userId="4e10686114942195" providerId="LiveId" clId="{D67E4975-066A-4E66-BD43-15154D530F8D}" dt="2025-09-25T09:47:16.276" v="0" actId="167"/>
          <ac:spMkLst>
            <pc:docMk/>
            <pc:sldMk cId="0" sldId="256"/>
            <ac:spMk id="6" creationId="{00000000-0000-0000-0000-000000000000}"/>
          </ac:spMkLst>
        </pc:spChg>
        <pc:picChg chg="add mod modCrop">
          <ac:chgData name="Ajith K R" userId="4e10686114942195" providerId="LiveId" clId="{D67E4975-066A-4E66-BD43-15154D530F8D}" dt="2025-09-25T09:49:23.054" v="8" actId="1076"/>
          <ac:picMkLst>
            <pc:docMk/>
            <pc:sldMk cId="0" sldId="256"/>
            <ac:picMk id="9" creationId="{31633637-ADCD-B62D-8914-0B60DAED80ED}"/>
          </ac:picMkLst>
        </pc:picChg>
      </pc:sldChg>
      <pc:sldChg chg="modSp mod">
        <pc:chgData name="Ajith K R" userId="4e10686114942195" providerId="LiveId" clId="{D67E4975-066A-4E66-BD43-15154D530F8D}" dt="2025-09-25T09:59:20.197" v="10" actId="27636"/>
        <pc:sldMkLst>
          <pc:docMk/>
          <pc:sldMk cId="0" sldId="264"/>
        </pc:sldMkLst>
        <pc:spChg chg="mod">
          <ac:chgData name="Ajith K R" userId="4e10686114942195" providerId="LiveId" clId="{D67E4975-066A-4E66-BD43-15154D530F8D}" dt="2025-09-25T09:59:20.197" v="10" actId="27636"/>
          <ac:spMkLst>
            <pc:docMk/>
            <pc:sldMk cId="0" sldId="264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E2D140-064D-45B5-8194-48025F0C2F39}" type="datetimeFigureOut">
              <a:rPr lang="en-GB" smtClean="0"/>
              <a:t>25/09/2025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B50D6-03E7-4149-8A76-A70C7CA184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1088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3B50D6-03E7-4149-8A76-A70C7CA1845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1816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69095" y="272141"/>
            <a:ext cx="8808097" cy="1285884"/>
          </a:xfrm>
          <a:prstGeom prst="roundRect">
            <a:avLst/>
          </a:prstGeom>
          <a:gradFill>
            <a:gsLst>
              <a:gs pos="19000">
                <a:srgbClr val="FFFF00">
                  <a:lumMod val="99000"/>
                  <a:alpha val="0"/>
                </a:srgbClr>
              </a:gs>
              <a:gs pos="100000">
                <a:srgbClr val="CCDF8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ounded Rectangle 5"/>
          <p:cNvSpPr/>
          <p:nvPr/>
        </p:nvSpPr>
        <p:spPr>
          <a:xfrm>
            <a:off x="195944" y="2106265"/>
            <a:ext cx="8808097" cy="3424455"/>
          </a:xfrm>
          <a:prstGeom prst="roundRect">
            <a:avLst/>
          </a:prstGeom>
          <a:gradFill>
            <a:gsLst>
              <a:gs pos="100000">
                <a:srgbClr val="CDE080">
                  <a:alpha val="43000"/>
                </a:srgbClr>
              </a:gs>
              <a:gs pos="0">
                <a:srgbClr val="FFFF00">
                  <a:alpha val="0"/>
                </a:srgb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192" y="447622"/>
            <a:ext cx="8229600" cy="961052"/>
          </a:xfrm>
        </p:spPr>
        <p:txBody>
          <a:bodyPr>
            <a:noAutofit/>
          </a:bodyPr>
          <a:lstStyle/>
          <a:p>
            <a:r>
              <a:rPr lang="en-GB" sz="4800" dirty="0">
                <a:solidFill>
                  <a:schemeClr val="bg1"/>
                </a:solidFill>
              </a:rPr>
              <a:t> </a:t>
            </a:r>
            <a:r>
              <a:rPr lang="en-GB" sz="6000" b="1" dirty="0">
                <a:solidFill>
                  <a:schemeClr val="bg1"/>
                </a:solidFill>
              </a:rPr>
              <a:t>Bank Analytics </a:t>
            </a:r>
            <a:endParaRPr sz="48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4991874" y="2258568"/>
            <a:ext cx="3956180" cy="32860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 b="1" dirty="0">
                <a:solidFill>
                  <a:schemeClr val="bg1"/>
                </a:solidFill>
              </a:rPr>
              <a:t>Presented By: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200" b="1" dirty="0">
                <a:solidFill>
                  <a:schemeClr val="bg1"/>
                </a:solidFill>
              </a:rPr>
              <a:t>Shiva Ram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200" b="1" dirty="0">
                <a:solidFill>
                  <a:schemeClr val="bg1"/>
                </a:solidFill>
              </a:rPr>
              <a:t>Sai Ram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200" b="1" dirty="0">
                <a:solidFill>
                  <a:schemeClr val="bg1"/>
                </a:solidFill>
              </a:rPr>
              <a:t>Snehitha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200" b="1" dirty="0">
                <a:solidFill>
                  <a:schemeClr val="bg1"/>
                </a:solidFill>
              </a:rPr>
              <a:t>Uday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200" b="1" dirty="0">
                <a:solidFill>
                  <a:schemeClr val="bg1"/>
                </a:solidFill>
              </a:rPr>
              <a:t>Ajinkya Jadav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200" b="1" dirty="0">
                <a:solidFill>
                  <a:schemeClr val="bg1"/>
                </a:solidFill>
              </a:rPr>
              <a:t>Abhijith M.V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200" b="1" dirty="0">
                <a:solidFill>
                  <a:schemeClr val="bg1"/>
                </a:solidFill>
              </a:rPr>
              <a:t>Ratnesh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 flipH="1">
            <a:off x="4160519" y="5934270"/>
            <a:ext cx="4787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dirty="0"/>
              <a:t>Tools Used:</a:t>
            </a:r>
            <a:r>
              <a:rPr lang="en-GB" dirty="0"/>
              <a:t> Excel | MySQL | Power BI | Tableau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5944" y="5680071"/>
            <a:ext cx="8808097" cy="730307"/>
          </a:xfrm>
          <a:prstGeom prst="roundRect">
            <a:avLst/>
          </a:prstGeom>
          <a:gradFill>
            <a:gsLst>
              <a:gs pos="100000">
                <a:srgbClr val="CDE080">
                  <a:alpha val="59000"/>
                </a:srgbClr>
              </a:gs>
              <a:gs pos="0">
                <a:srgbClr val="FFFF00">
                  <a:alpha val="0"/>
                </a:srgb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633637-ADCD-B62D-8914-0B60DAED80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621" t="4427" r="25492"/>
          <a:stretch>
            <a:fillRect/>
          </a:stretch>
        </p:blipFill>
        <p:spPr>
          <a:xfrm>
            <a:off x="485192" y="2362977"/>
            <a:ext cx="2917161" cy="2911030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5314"/>
            <a:ext cx="8229600" cy="569168"/>
          </a:xfrm>
        </p:spPr>
        <p:txBody>
          <a:bodyPr>
            <a:normAutofit fontScale="90000"/>
          </a:bodyPr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34482"/>
            <a:ext cx="8229600" cy="585962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000" dirty="0">
                <a:solidFill>
                  <a:schemeClr val="bg1"/>
                </a:solidFill>
              </a:rPr>
              <a:t>This project “</a:t>
            </a:r>
            <a:r>
              <a:rPr lang="en-GB" sz="2000" b="1" i="1" dirty="0"/>
              <a:t>Bank Analytics</a:t>
            </a:r>
            <a:r>
              <a:rPr lang="en-GB" sz="2000" dirty="0">
                <a:solidFill>
                  <a:schemeClr val="bg1"/>
                </a:solidFill>
              </a:rPr>
              <a:t>” focuses on analysing customer banking activities using two primary datasets 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000" dirty="0">
                <a:solidFill>
                  <a:schemeClr val="bg1"/>
                </a:solidFill>
              </a:rPr>
              <a:t>one containing customer </a:t>
            </a:r>
            <a:r>
              <a:rPr lang="en-GB" sz="2000" dirty="0"/>
              <a:t>debit and credit transaction details</a:t>
            </a:r>
            <a:r>
              <a:rPr lang="en-GB" sz="2000" dirty="0">
                <a:solidFill>
                  <a:schemeClr val="bg1"/>
                </a:solidFill>
              </a:rPr>
              <a:t>, and another </a:t>
            </a:r>
            <a:r>
              <a:rPr lang="en-GB" sz="2000" dirty="0"/>
              <a:t>containing bank loan records.</a:t>
            </a:r>
          </a:p>
          <a:p>
            <a:pPr marL="0" indent="0">
              <a:lnSpc>
                <a:spcPct val="150000"/>
              </a:lnSpc>
              <a:buNone/>
            </a:pPr>
            <a:endParaRPr lang="en-GB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GB" sz="2000" dirty="0">
                <a:solidFill>
                  <a:schemeClr val="bg1"/>
                </a:solidFill>
              </a:rPr>
              <a:t>The main objective of the project is to gain insights into customer financial behaviour, loan distribution, and overall banking performance.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000" dirty="0">
                <a:solidFill>
                  <a:schemeClr val="bg1"/>
                </a:solidFill>
              </a:rPr>
              <a:t> To achieve this, multiple data analytics and visualization tools were used:</a:t>
            </a:r>
          </a:p>
          <a:p>
            <a:pPr>
              <a:lnSpc>
                <a:spcPct val="150000"/>
              </a:lnSpc>
            </a:pPr>
            <a:r>
              <a:rPr lang="en-GB" sz="2000" b="1" dirty="0"/>
              <a:t>Excel Dashboard </a:t>
            </a:r>
            <a:r>
              <a:rPr lang="en-GB" sz="2000" dirty="0">
                <a:solidFill>
                  <a:schemeClr val="bg1"/>
                </a:solidFill>
              </a:rPr>
              <a:t>for the initial representation of actual data.</a:t>
            </a:r>
          </a:p>
          <a:p>
            <a:pPr>
              <a:lnSpc>
                <a:spcPct val="150000"/>
              </a:lnSpc>
            </a:pPr>
            <a:r>
              <a:rPr lang="en-GB" sz="2000" b="1" dirty="0"/>
              <a:t>SQL , Power BI </a:t>
            </a:r>
            <a:r>
              <a:rPr lang="en-GB" sz="2000" dirty="0">
                <a:solidFill>
                  <a:schemeClr val="bg1"/>
                </a:solidFill>
              </a:rPr>
              <a:t>for structured query outputs and interactive dashboards.</a:t>
            </a:r>
          </a:p>
          <a:p>
            <a:pPr>
              <a:lnSpc>
                <a:spcPct val="150000"/>
              </a:lnSpc>
            </a:pPr>
            <a:r>
              <a:rPr lang="en-GB" sz="2000" b="1" dirty="0"/>
              <a:t>Tableau Dashboard </a:t>
            </a:r>
            <a:r>
              <a:rPr lang="en-GB" sz="2000" dirty="0">
                <a:solidFill>
                  <a:schemeClr val="bg1"/>
                </a:solidFill>
              </a:rPr>
              <a:t>for advanced visualization and deeper insights.</a:t>
            </a:r>
          </a:p>
          <a:p>
            <a:pPr marL="0" indent="0">
              <a:lnSpc>
                <a:spcPct val="150000"/>
              </a:lnSpc>
              <a:buNone/>
            </a:pPr>
            <a:endParaRPr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71804"/>
          </a:xfrm>
        </p:spPr>
        <p:txBody>
          <a:bodyPr>
            <a:normAutofit fontScale="90000"/>
          </a:bodyPr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951" y="597160"/>
            <a:ext cx="8798767" cy="6186196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GB" sz="2400" dirty="0">
                <a:solidFill>
                  <a:schemeClr val="bg1"/>
                </a:solidFill>
              </a:rPr>
              <a:t>Banks generate huge volumes of transactional and loan data every day. However, this data often remains underutilized due to lack of proper analysis and visualization.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>
              <a:solidFill>
                <a:schemeClr val="bg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>
                <a:solidFill>
                  <a:schemeClr val="bg1"/>
                </a:solidFill>
              </a:rPr>
              <a:t>The key challenges are:</a:t>
            </a:r>
          </a:p>
          <a:p>
            <a:pPr>
              <a:lnSpc>
                <a:spcPct val="120000"/>
              </a:lnSpc>
            </a:pPr>
            <a:r>
              <a:rPr lang="en-GB" sz="2400" dirty="0">
                <a:solidFill>
                  <a:schemeClr val="bg1"/>
                </a:solidFill>
              </a:rPr>
              <a:t>Difficulty in </a:t>
            </a:r>
            <a:r>
              <a:rPr lang="en-GB" sz="2400" b="1" dirty="0"/>
              <a:t>tracking customer debit and credit patterns</a:t>
            </a:r>
            <a:r>
              <a:rPr lang="en-GB" sz="2400" dirty="0"/>
              <a:t> </a:t>
            </a:r>
            <a:r>
              <a:rPr lang="en-GB" sz="2400" dirty="0">
                <a:solidFill>
                  <a:schemeClr val="bg1"/>
                </a:solidFill>
              </a:rPr>
              <a:t>effectively.</a:t>
            </a:r>
          </a:p>
          <a:p>
            <a:pPr>
              <a:lnSpc>
                <a:spcPct val="120000"/>
              </a:lnSpc>
            </a:pPr>
            <a:r>
              <a:rPr lang="en-GB" sz="2400" dirty="0">
                <a:solidFill>
                  <a:schemeClr val="bg1"/>
                </a:solidFill>
              </a:rPr>
              <a:t>Lack of a unified system to </a:t>
            </a:r>
            <a:r>
              <a:rPr lang="en-GB" sz="2400" b="1" dirty="0"/>
              <a:t>analyse loan data alongside transaction data</a:t>
            </a:r>
            <a:r>
              <a:rPr lang="en-GB" sz="2400" dirty="0"/>
              <a:t>.</a:t>
            </a:r>
          </a:p>
          <a:p>
            <a:pPr>
              <a:lnSpc>
                <a:spcPct val="120000"/>
              </a:lnSpc>
            </a:pPr>
            <a:r>
              <a:rPr lang="en-GB" sz="2400" dirty="0">
                <a:solidFill>
                  <a:schemeClr val="bg1"/>
                </a:solidFill>
              </a:rPr>
              <a:t>Limited ability to </a:t>
            </a:r>
            <a:r>
              <a:rPr lang="en-GB" sz="2400" b="1" dirty="0"/>
              <a:t>derive real-time insights</a:t>
            </a:r>
            <a:r>
              <a:rPr lang="en-GB" sz="2400" dirty="0"/>
              <a:t> </a:t>
            </a:r>
            <a:r>
              <a:rPr lang="en-GB" sz="2400" dirty="0">
                <a:solidFill>
                  <a:schemeClr val="bg1"/>
                </a:solidFill>
              </a:rPr>
              <a:t>from raw SQL query outputs.</a:t>
            </a:r>
          </a:p>
          <a:p>
            <a:pPr>
              <a:lnSpc>
                <a:spcPct val="120000"/>
              </a:lnSpc>
            </a:pPr>
            <a:r>
              <a:rPr lang="en-GB" sz="2400" dirty="0">
                <a:solidFill>
                  <a:schemeClr val="bg1"/>
                </a:solidFill>
              </a:rPr>
              <a:t>Absence of </a:t>
            </a:r>
            <a:r>
              <a:rPr lang="en-GB" sz="2400" b="1" dirty="0"/>
              <a:t>interactive dashboards</a:t>
            </a:r>
            <a:r>
              <a:rPr lang="en-GB" sz="2400" dirty="0"/>
              <a:t> </a:t>
            </a:r>
            <a:r>
              <a:rPr lang="en-GB" sz="2400" dirty="0">
                <a:solidFill>
                  <a:schemeClr val="bg1"/>
                </a:solidFill>
              </a:rPr>
              <a:t>for decision-making</a:t>
            </a:r>
            <a:r>
              <a:rPr lang="en-GB" sz="2400" dirty="0"/>
              <a:t>.</a:t>
            </a:r>
          </a:p>
          <a:p>
            <a:pPr>
              <a:lnSpc>
                <a:spcPct val="120000"/>
              </a:lnSpc>
            </a:pPr>
            <a:r>
              <a:rPr lang="en-GB" sz="2400" dirty="0">
                <a:solidFill>
                  <a:schemeClr val="bg1"/>
                </a:solidFill>
              </a:rPr>
              <a:t>Challenge in </a:t>
            </a:r>
            <a:r>
              <a:rPr lang="en-GB" sz="2400" b="1" dirty="0"/>
              <a:t>identifying key performance indicators (KPIs)</a:t>
            </a:r>
            <a:r>
              <a:rPr lang="en-GB" sz="2400" dirty="0"/>
              <a:t> </a:t>
            </a:r>
            <a:r>
              <a:rPr lang="en-GB" sz="2400" dirty="0">
                <a:solidFill>
                  <a:schemeClr val="bg1"/>
                </a:solidFill>
              </a:rPr>
              <a:t>that drive banking growth and risk assessment.</a:t>
            </a:r>
          </a:p>
          <a:p>
            <a:pPr>
              <a:lnSpc>
                <a:spcPct val="120000"/>
              </a:lnSpc>
            </a:pPr>
            <a:endParaRPr lang="en-GB" sz="2400" dirty="0">
              <a:solidFill>
                <a:schemeClr val="bg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>
                <a:solidFill>
                  <a:schemeClr val="bg1"/>
                </a:solidFill>
              </a:rPr>
              <a:t>This project addresses these challenges by integrating data analytics and visualization tools to transform raw banking data into actionable insights.</a:t>
            </a:r>
          </a:p>
          <a:p>
            <a:pPr marL="0" indent="0">
              <a:lnSpc>
                <a:spcPct val="300000"/>
              </a:lnSpc>
              <a:buNone/>
            </a:pPr>
            <a:endParaRPr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2054"/>
            <a:ext cx="8229600" cy="713683"/>
          </a:xfrm>
        </p:spPr>
        <p:txBody>
          <a:bodyPr>
            <a:normAutofit fontScale="90000"/>
          </a:bodyPr>
          <a:lstStyle/>
          <a:p>
            <a:r>
              <a:rPr dirty="0"/>
              <a:t>KPIs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281" y="746643"/>
            <a:ext cx="8789437" cy="6025632"/>
          </a:xfrm>
        </p:spPr>
        <p:txBody>
          <a:bodyPr/>
          <a:lstStyle/>
          <a:p>
            <a:pPr marL="0" indent="0" algn="ctr">
              <a:buNone/>
            </a:pPr>
            <a:r>
              <a:rPr dirty="0"/>
              <a:t>Key Performance Indicators and insights </a:t>
            </a:r>
            <a:endParaRPr lang="en-GB" dirty="0"/>
          </a:p>
          <a:p>
            <a:pPr marL="0" indent="0" algn="ctr">
              <a:buNone/>
            </a:pPr>
            <a:endParaRPr lang="en-GB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57200" y="1724739"/>
            <a:ext cx="832485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Loan Applications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Measures the number of loan requests received (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65.5K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28575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Amount Collected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Amount repaid by customers (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$814.9M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28575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Interest Collected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Interest earned from loans (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$155M+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28575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Interest Rate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Average percentage of interest across loans (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12%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28575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Active Loans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Number of currently running loans (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28,654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28575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Disbursement Trend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–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Loan distribution trend across financial years</a:t>
            </a:r>
            <a:endParaRPr lang="en-GB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Total Credit Amount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$127.6 Million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Total Debit Amount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$127.3 Million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Credit to Debit Ratio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1.0025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Net Transaction Amount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$318.1K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2637"/>
            <a:ext cx="8229600" cy="513183"/>
          </a:xfrm>
        </p:spPr>
        <p:txBody>
          <a:bodyPr>
            <a:normAutofit fontScale="90000"/>
          </a:bodyPr>
          <a:lstStyle/>
          <a:p>
            <a:r>
              <a:rPr lang="en-GB" dirty="0"/>
              <a:t>Excel</a:t>
            </a:r>
            <a:r>
              <a:rPr dirty="0"/>
              <a:t>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629" y="615820"/>
            <a:ext cx="8556171" cy="6111551"/>
          </a:xfrm>
        </p:spPr>
        <p:txBody>
          <a:bodyPr/>
          <a:lstStyle/>
          <a:p>
            <a:pPr marL="0" indent="0" algn="ctr">
              <a:buNone/>
            </a:pPr>
            <a:r>
              <a:rPr dirty="0"/>
              <a:t>Showcase of final dashboard developed in </a:t>
            </a:r>
            <a:r>
              <a:rPr lang="en-GB" dirty="0"/>
              <a:t>excel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266" y="1129003"/>
            <a:ext cx="8453534" cy="255658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266" y="3834882"/>
            <a:ext cx="8453534" cy="27622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050"/>
            <a:ext cx="8229600" cy="1143000"/>
          </a:xfrm>
        </p:spPr>
        <p:txBody>
          <a:bodyPr/>
          <a:lstStyle/>
          <a:p>
            <a:r>
              <a:rPr lang="en-GB" dirty="0"/>
              <a:t>Tableau</a:t>
            </a:r>
            <a:r>
              <a:rPr dirty="0"/>
              <a:t>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927" y="919065"/>
            <a:ext cx="8640147" cy="5761653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/>
              <a:t>Screenshot of Tableau dashboard</a:t>
            </a:r>
          </a:p>
          <a:p>
            <a:pPr marL="0" indent="0" algn="ctr">
              <a:buNone/>
            </a:pPr>
            <a:endParaRPr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870" y="1686653"/>
            <a:ext cx="8444204" cy="47762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84576"/>
          </a:xfrm>
        </p:spPr>
        <p:txBody>
          <a:bodyPr>
            <a:normAutofit fontScale="90000"/>
          </a:bodyPr>
          <a:lstStyle/>
          <a:p>
            <a:r>
              <a:rPr lang="en-GB" dirty="0"/>
              <a:t>My</a:t>
            </a:r>
            <a:r>
              <a:rPr dirty="0"/>
              <a:t>SQL Queries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50506"/>
            <a:ext cx="9144000" cy="6307494"/>
          </a:xfrm>
        </p:spPr>
        <p:txBody>
          <a:bodyPr/>
          <a:lstStyle/>
          <a:p>
            <a:pPr marL="0" indent="0" algn="ctr">
              <a:buNone/>
            </a:pPr>
            <a:r>
              <a:rPr dirty="0"/>
              <a:t>Display output of SQL queries here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0" y="1110343"/>
            <a:ext cx="2724538" cy="39001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3159" y="5153365"/>
            <a:ext cx="2886465" cy="15306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0" y="5153365"/>
            <a:ext cx="2724538" cy="153060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7615" y="5153366"/>
            <a:ext cx="2998433" cy="153060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3159" y="1110344"/>
            <a:ext cx="6002889" cy="39001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71804"/>
          </a:xfrm>
        </p:spPr>
        <p:txBody>
          <a:bodyPr>
            <a:normAutofit fontScale="90000"/>
          </a:bodyPr>
          <a:lstStyle/>
          <a:p>
            <a:r>
              <a:rPr lang="en-GB" dirty="0"/>
              <a:t>Power BI Dashboard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845" y="720174"/>
            <a:ext cx="8229600" cy="4525963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/>
              <a:t>Screenshot of Power BI dashboard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24948"/>
            <a:ext cx="4124131" cy="283775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290" y="1324948"/>
            <a:ext cx="3965510" cy="283775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4245430"/>
            <a:ext cx="8229600" cy="250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549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4645"/>
            <a:ext cx="8229600" cy="569167"/>
          </a:xfrm>
        </p:spPr>
        <p:txBody>
          <a:bodyPr>
            <a:normAutofit fontScale="90000"/>
          </a:bodyPr>
          <a:lstStyle/>
          <a:p>
            <a:r>
              <a:rPr dirty="0"/>
              <a:t>Project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298" y="657808"/>
            <a:ext cx="8901404" cy="612554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dirty="0"/>
              <a:t>Summary of findings and key learnings</a:t>
            </a:r>
            <a:endParaRPr lang="en-GB" dirty="0"/>
          </a:p>
          <a:p>
            <a:pPr marL="0" indent="0" algn="ctr">
              <a:buNone/>
            </a:pPr>
            <a:r>
              <a:rPr lang="en-GB" sz="2000" b="1" dirty="0">
                <a:solidFill>
                  <a:schemeClr val="bg1"/>
                </a:solidFill>
              </a:rPr>
              <a:t>Key Findings:</a:t>
            </a:r>
            <a:endParaRPr lang="en-GB" sz="2000" dirty="0">
              <a:solidFill>
                <a:schemeClr val="bg1"/>
              </a:solidFill>
            </a:endParaRPr>
          </a:p>
          <a:p>
            <a:r>
              <a:rPr lang="en-GB" sz="2000" b="1" dirty="0"/>
              <a:t>Loan Data Analysis</a:t>
            </a:r>
            <a:endParaRPr lang="en-GB" sz="2000" dirty="0"/>
          </a:p>
          <a:p>
            <a:pPr lvl="1"/>
            <a:r>
              <a:rPr lang="en-GB" sz="2000" dirty="0">
                <a:solidFill>
                  <a:schemeClr val="bg1"/>
                </a:solidFill>
              </a:rPr>
              <a:t>Total loan applications stood at </a:t>
            </a:r>
            <a:r>
              <a:rPr lang="en-GB" sz="2000" b="1" dirty="0"/>
              <a:t>65.5K</a:t>
            </a:r>
            <a:r>
              <a:rPr lang="en-GB" sz="2000" dirty="0"/>
              <a:t>, </a:t>
            </a:r>
            <a:r>
              <a:rPr lang="en-GB" sz="2000" dirty="0">
                <a:solidFill>
                  <a:schemeClr val="bg1"/>
                </a:solidFill>
              </a:rPr>
              <a:t>with a funded amount of </a:t>
            </a:r>
            <a:r>
              <a:rPr lang="en-GB" sz="2000" b="1" dirty="0"/>
              <a:t>$751M</a:t>
            </a:r>
            <a:r>
              <a:rPr lang="en-GB" sz="2000" dirty="0"/>
              <a:t> and </a:t>
            </a:r>
            <a:r>
              <a:rPr lang="en-GB" sz="2000" dirty="0">
                <a:solidFill>
                  <a:schemeClr val="bg1"/>
                </a:solidFill>
              </a:rPr>
              <a:t>collections of </a:t>
            </a:r>
            <a:r>
              <a:rPr lang="en-GB" sz="2000" b="1" dirty="0"/>
              <a:t>$814.9M</a:t>
            </a:r>
            <a:r>
              <a:rPr lang="en-GB" sz="2000" dirty="0"/>
              <a:t>.</a:t>
            </a:r>
          </a:p>
          <a:p>
            <a:pPr lvl="1"/>
            <a:r>
              <a:rPr lang="en-GB" sz="2000" dirty="0">
                <a:solidFill>
                  <a:schemeClr val="bg1"/>
                </a:solidFill>
              </a:rPr>
              <a:t>The</a:t>
            </a:r>
            <a:r>
              <a:rPr lang="en-GB" sz="2000" dirty="0"/>
              <a:t> </a:t>
            </a:r>
            <a:r>
              <a:rPr lang="en-GB" sz="2000" b="1" dirty="0"/>
              <a:t>average interest rate (12%)</a:t>
            </a:r>
            <a:r>
              <a:rPr lang="en-GB" sz="2000" dirty="0"/>
              <a:t> </a:t>
            </a:r>
            <a:r>
              <a:rPr lang="en-GB" sz="2000" dirty="0">
                <a:solidFill>
                  <a:schemeClr val="bg1"/>
                </a:solidFill>
              </a:rPr>
              <a:t>and </a:t>
            </a:r>
            <a:r>
              <a:rPr lang="en-GB" sz="2000" b="1" dirty="0"/>
              <a:t>active loans (28,654)</a:t>
            </a:r>
            <a:r>
              <a:rPr lang="en-GB" sz="2000" dirty="0"/>
              <a:t> </a:t>
            </a:r>
            <a:r>
              <a:rPr lang="en-GB" sz="2000" dirty="0">
                <a:solidFill>
                  <a:schemeClr val="bg1"/>
                </a:solidFill>
              </a:rPr>
              <a:t>highlight the bank’s significant lending portfolio.</a:t>
            </a:r>
          </a:p>
          <a:p>
            <a:pPr lvl="1"/>
            <a:r>
              <a:rPr lang="en-GB" sz="2000" b="1" dirty="0"/>
              <a:t>Disbursement trends</a:t>
            </a:r>
            <a:r>
              <a:rPr lang="en-GB" sz="2000" dirty="0"/>
              <a:t> </a:t>
            </a:r>
            <a:r>
              <a:rPr lang="en-GB" sz="2000" dirty="0">
                <a:solidFill>
                  <a:schemeClr val="bg1"/>
                </a:solidFill>
              </a:rPr>
              <a:t>show yearly variation in sanctioned loans.</a:t>
            </a:r>
          </a:p>
          <a:p>
            <a:pPr lvl="1"/>
            <a:r>
              <a:rPr lang="en-GB" sz="2000" dirty="0">
                <a:solidFill>
                  <a:schemeClr val="bg1"/>
                </a:solidFill>
              </a:rPr>
              <a:t>Region-wise, branch-wise, and purpose-wise dashboards reveal performance differences across geographies and loan categories.</a:t>
            </a:r>
          </a:p>
          <a:p>
            <a:r>
              <a:rPr lang="en-GB" sz="2000" b="1" dirty="0"/>
              <a:t>Credit &amp; Debit Data Analysis</a:t>
            </a:r>
            <a:endParaRPr lang="en-GB" sz="2000" dirty="0"/>
          </a:p>
          <a:p>
            <a:pPr lvl="1"/>
            <a:r>
              <a:rPr lang="en-GB" sz="2000" b="1" dirty="0"/>
              <a:t>Total Credit ($127.6M)</a:t>
            </a:r>
            <a:r>
              <a:rPr lang="en-GB" sz="2000" dirty="0"/>
              <a:t> </a:t>
            </a:r>
            <a:r>
              <a:rPr lang="en-GB" sz="2000" dirty="0">
                <a:solidFill>
                  <a:schemeClr val="bg1"/>
                </a:solidFill>
              </a:rPr>
              <a:t>and</a:t>
            </a:r>
            <a:r>
              <a:rPr lang="en-GB" sz="2000" dirty="0"/>
              <a:t> </a:t>
            </a:r>
            <a:r>
              <a:rPr lang="en-GB" sz="2000" b="1" dirty="0"/>
              <a:t>Total Debit ($127.3M)</a:t>
            </a:r>
            <a:r>
              <a:rPr lang="en-GB" sz="2000" dirty="0"/>
              <a:t> </a:t>
            </a:r>
            <a:r>
              <a:rPr lang="en-GB" sz="2000" dirty="0">
                <a:solidFill>
                  <a:schemeClr val="bg1"/>
                </a:solidFill>
              </a:rPr>
              <a:t>values are almost balanced</a:t>
            </a:r>
            <a:r>
              <a:rPr lang="en-GB" sz="2000" dirty="0"/>
              <a:t>, </a:t>
            </a:r>
            <a:r>
              <a:rPr lang="en-GB" sz="2000" dirty="0">
                <a:solidFill>
                  <a:schemeClr val="bg1"/>
                </a:solidFill>
              </a:rPr>
              <a:t>giving a </a:t>
            </a:r>
            <a:r>
              <a:rPr lang="en-GB" sz="2000" b="1" dirty="0"/>
              <a:t>Credit to Debit Ratio of 1.0025</a:t>
            </a:r>
            <a:r>
              <a:rPr lang="en-GB" sz="2000" dirty="0"/>
              <a:t>.</a:t>
            </a:r>
          </a:p>
          <a:p>
            <a:pPr lvl="1"/>
            <a:r>
              <a:rPr lang="en-GB" sz="2000" b="1" dirty="0"/>
              <a:t>Transaction </a:t>
            </a:r>
            <a:r>
              <a:rPr lang="en-GB" sz="2000" b="1" dirty="0">
                <a:solidFill>
                  <a:schemeClr val="bg1"/>
                </a:solidFill>
              </a:rPr>
              <a:t>methods</a:t>
            </a:r>
            <a:r>
              <a:rPr lang="en-GB" sz="2000" dirty="0">
                <a:solidFill>
                  <a:schemeClr val="bg1"/>
                </a:solidFill>
              </a:rPr>
              <a:t> were evenly distributed: Debit Card (34%), Bank Transfer (33%), Credit Card (33%).</a:t>
            </a:r>
          </a:p>
          <a:p>
            <a:pPr lvl="1"/>
            <a:r>
              <a:rPr lang="en-GB" sz="2000" b="1" dirty="0"/>
              <a:t>High-Risk Transactions</a:t>
            </a:r>
            <a:r>
              <a:rPr lang="en-GB" sz="2000" dirty="0"/>
              <a:t> </a:t>
            </a:r>
            <a:r>
              <a:rPr lang="en-GB" sz="2000" dirty="0">
                <a:solidFill>
                  <a:schemeClr val="bg1"/>
                </a:solidFill>
              </a:rPr>
              <a:t>were flagged in both credit and debit cards (~13.6K each), requiring stronger fraud detection</a:t>
            </a:r>
            <a:r>
              <a:rPr lang="en-GB" sz="2000" dirty="0"/>
              <a:t>.</a:t>
            </a:r>
          </a:p>
          <a:p>
            <a:pPr marL="457200" lvl="1" indent="0">
              <a:buNone/>
            </a:pPr>
            <a:endParaRPr lang="en-GB" dirty="0"/>
          </a:p>
          <a:p>
            <a:pPr marL="0" indent="0" algn="ctr"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1299"/>
            <a:ext cx="7772400" cy="699795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Key Learnings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927" y="821094"/>
            <a:ext cx="8406881" cy="5840963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KPI Tracking Improves</a:t>
            </a:r>
            <a:r>
              <a:rPr lang="en-US" alt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Decision Monitoring metrics </a:t>
            </a: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like active loans, interest collected, and disbursement trends helps banks </a:t>
            </a: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align with business goals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285750" lvl="0" indent="-28575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Visualization Enhances Understanding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Dashboards (Power BI, Tableau, Excel) make complex data easier to interpret.</a:t>
            </a:r>
          </a:p>
          <a:p>
            <a:pPr marL="285750" lvl="0" indent="-28575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Branch &amp; Bank-Level Insights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Comparing performance across branches and banks supports </a:t>
            </a:r>
            <a:r>
              <a:rPr lang="en-US" alt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strategic planning</a:t>
            </a:r>
            <a:endParaRPr lang="en-US" altLang="en-US" sz="14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lvl="0" indent="-28575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SQL + BI Integration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Structured queries combined with visualization tools increase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accuracy and accessibility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285750" lvl="0" indent="-28575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Customer Profiling</a:t>
            </a: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  Age, grade, and purpose-based loan segmentation helps in </a:t>
            </a: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targeted product offerings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285750" lvl="0" indent="-28575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Real-time Monitoring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Dashboards provide </a:t>
            </a: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timely alerts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on risks and performance trends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285750" lvl="0" indent="-28575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Scalable Analytics Framework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The project shows how analytics can be scaled to larger banking datasets in the future</a:t>
            </a: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A nearly Balanced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Credit-debit ratio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indicates strong customer financial discipline.</a:t>
            </a:r>
          </a:p>
          <a:p>
            <a:pPr marL="285750" lvl="0" indent="-28575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High-risk </a:t>
            </a:r>
            <a:r>
              <a:rPr lang="en-US" alt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transaction </a:t>
            </a: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monitoring is crucial , especially for credit and debit card usage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285750" lvl="0" indent="-28575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Loan disbursement and repayment trends 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reveal valuable insights for </a:t>
            </a:r>
            <a:r>
              <a:rPr lang="en-GB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strategic decision-making</a:t>
            </a:r>
            <a:r>
              <a:rPr lang="en-GB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lvl="0" indent="-285750" algn="l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01884" y="2374321"/>
            <a:ext cx="815631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44512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1" y="464393"/>
            <a:ext cx="7772400" cy="526208"/>
          </a:xfrm>
        </p:spPr>
        <p:txBody>
          <a:bodyPr>
            <a:normAutofit fontScale="90000"/>
          </a:bodyPr>
          <a:lstStyle/>
          <a:p>
            <a:r>
              <a:rPr lang="en-GB" sz="4000" dirty="0"/>
              <a:t>Solutions &amp; Improvements</a:t>
            </a:r>
          </a:p>
        </p:txBody>
      </p:sp>
      <p:sp>
        <p:nvSpPr>
          <p:cNvPr id="5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4301" y="1178053"/>
            <a:ext cx="880110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Segmentation &amp; Targeting</a:t>
            </a: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  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nalyze age, income, and purpose-based loan data to offer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personalized loan products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cross-selling opportunities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(credit cards, insurance, savings plans).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Branch &amp; Bank Performance Optimization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Use KPIs to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identify underperforming branches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and improve training, resources, and policies.</a:t>
            </a:r>
            <a:r>
              <a:rPr kumimoji="0" lang="en-US" altLang="en-US" sz="14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Reward high-performing branches to maintain competitive spirit.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Loan Portfolio Management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Closely monitor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disbursement vs. repayment trends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to minimize defaults.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  Adjust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interest rates and loan terms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based on customer profiles and risk levels.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 Banking Enhancements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Encourage more customers to use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online banking, UPI, and mobile apps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for transparent transactions. Strengthen cybersecurity to build trust in digital payments.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Data-Driven Decision Making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Use interactive dashboards (Power BI/Tableau) for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real-time executive decisions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en-GB" sz="1400" dirty="0">
                <a:solidFill>
                  <a:schemeClr val="bg1"/>
                </a:solidFill>
              </a:rPr>
              <a:t>Integrate </a:t>
            </a:r>
            <a:r>
              <a:rPr lang="en-GB" sz="1400" b="1" dirty="0">
                <a:solidFill>
                  <a:schemeClr val="bg1"/>
                </a:solidFill>
              </a:rPr>
              <a:t>SQL </a:t>
            </a:r>
            <a:r>
              <a:rPr lang="en-GB" sz="1400" dirty="0">
                <a:solidFill>
                  <a:schemeClr val="bg1"/>
                </a:solidFill>
              </a:rPr>
              <a:t>for faster and error-free data analysis.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6431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563" y="2710543"/>
            <a:ext cx="8229600" cy="643812"/>
          </a:xfrm>
        </p:spPr>
        <p:txBody>
          <a:bodyPr>
            <a:normAutofit fontScale="90000"/>
          </a:bodyPr>
          <a:lstStyle/>
          <a:p>
            <a:r>
              <a:rPr sz="6000" b="1" dirty="0">
                <a:solidFill>
                  <a:schemeClr val="bg1"/>
                </a:solidFill>
              </a:rPr>
              <a:t>Thank You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807</TotalTime>
  <Words>838</Words>
  <Application>Microsoft Office PowerPoint</Application>
  <PresentationFormat>On-screen Show (4:3)</PresentationFormat>
  <Paragraphs>88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 Bank Analytics </vt:lpstr>
      <vt:lpstr>Introduction</vt:lpstr>
      <vt:lpstr>Problem Statement</vt:lpstr>
      <vt:lpstr>KPIs &amp; Insights</vt:lpstr>
      <vt:lpstr>Excel Dashboard</vt:lpstr>
      <vt:lpstr>Tableau Dashboard</vt:lpstr>
      <vt:lpstr>MySQL Queries Output</vt:lpstr>
      <vt:lpstr>Power BI Dashboard</vt:lpstr>
      <vt:lpstr>Project Summary</vt:lpstr>
      <vt:lpstr>Key Learnings</vt:lpstr>
      <vt:lpstr>Solutions &amp; Improvements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Analytics</dc:title>
  <dc:subject/>
  <dc:creator>Ratnesh Ranjan Jha</dc:creator>
  <cp:keywords/>
  <dc:description>generated using python-pptx</dc:description>
  <cp:lastModifiedBy>Ajith K R</cp:lastModifiedBy>
  <cp:revision>29</cp:revision>
  <dcterms:created xsi:type="dcterms:W3CDTF">2013-01-27T09:14:16Z</dcterms:created>
  <dcterms:modified xsi:type="dcterms:W3CDTF">2025-09-25T10:01:34Z</dcterms:modified>
  <cp:category/>
</cp:coreProperties>
</file>